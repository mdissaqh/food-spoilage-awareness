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317" r:id="rId5"/>
    <p:sldId id="308" r:id="rId6"/>
    <p:sldId id="309" r:id="rId7"/>
    <p:sldId id="278" r:id="rId8"/>
    <p:sldId id="263" r:id="rId9"/>
    <p:sldId id="312" r:id="rId10"/>
    <p:sldId id="311" r:id="rId11"/>
    <p:sldId id="314" r:id="rId12"/>
    <p:sldId id="30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70" d="100"/>
          <a:sy n="70" d="100"/>
        </p:scale>
        <p:origin x="536" y="5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5/23/2026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5/23/2026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creativecommons.org/licenses/by-nd/3.0/" TargetMode="External"/><Relationship Id="rId4" Type="http://schemas.openxmlformats.org/officeDocument/2006/relationships/hyperlink" Target="https://groundup.org.za/article/service-dining-room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2825496"/>
            <a:ext cx="10523220" cy="3749040"/>
          </a:xfrm>
        </p:spPr>
        <p:txBody>
          <a:bodyPr anchor="ctr"/>
          <a:lstStyle/>
          <a:p>
            <a:r>
              <a:rPr lang="en-US" b="1" dirty="0">
                <a:latin typeface="Algerian" panose="04020705040A02060702" pitchFamily="82" charset="0"/>
              </a:rPr>
              <a:t>QUANTUM  HACKS</a:t>
            </a:r>
            <a:br>
              <a:rPr lang="en-US" b="1" dirty="0">
                <a:latin typeface="Algerian" panose="04020705040A02060702" pitchFamily="82" charset="0"/>
              </a:rPr>
            </a:br>
            <a:br>
              <a:rPr lang="en-US" b="1" dirty="0">
                <a:latin typeface="Algerian" panose="04020705040A02060702" pitchFamily="82" charset="0"/>
              </a:rPr>
            </a:br>
            <a:r>
              <a:rPr lang="en-US" sz="2000" dirty="0">
                <a:latin typeface="Arial" panose="020B0604020202020204" pitchFamily="34" charset="0"/>
                <a:cs typeface="Arial" panose="020B0604020202020204" pitchFamily="34" charset="0"/>
              </a:rPr>
              <a:t>TEAM NAME</a:t>
            </a:r>
            <a:r>
              <a:rPr lang="en-US" sz="2000" dirty="0">
                <a:latin typeface="Algerian" panose="04020705040A02060702" pitchFamily="82" charset="0"/>
              </a:rPr>
              <a:t>:-</a:t>
            </a:r>
            <a:r>
              <a:rPr lang="en-US" sz="3600" u="sng" dirty="0">
                <a:latin typeface="Algerian" panose="04020705040A02060702" pitchFamily="82" charset="0"/>
                <a:cs typeface="Arial" panose="020B0604020202020204" pitchFamily="34" charset="0"/>
              </a:rPr>
              <a:t>CODE KRAFTERS</a:t>
            </a:r>
            <a:br>
              <a:rPr lang="en-US" sz="3600" dirty="0">
                <a:latin typeface="Arial" panose="020B0604020202020204" pitchFamily="34" charset="0"/>
                <a:cs typeface="Arial" panose="020B0604020202020204" pitchFamily="34" charset="0"/>
              </a:rPr>
            </a:br>
            <a:br>
              <a:rPr lang="en-US" sz="3600" dirty="0">
                <a:latin typeface="Arial" panose="020B0604020202020204" pitchFamily="34" charset="0"/>
                <a:cs typeface="Arial" panose="020B0604020202020204" pitchFamily="34" charset="0"/>
              </a:rPr>
            </a:br>
            <a:r>
              <a:rPr lang="en-US" sz="3200" dirty="0">
                <a:latin typeface="Arial" panose="020B0604020202020204" pitchFamily="34" charset="0"/>
                <a:cs typeface="Arial" panose="020B0604020202020204" pitchFamily="34" charset="0"/>
              </a:rPr>
              <a:t>Domain: Food Systems</a:t>
            </a:r>
            <a:br>
              <a:rPr lang="en-US" sz="3200" dirty="0">
                <a:latin typeface="Arial" panose="020B0604020202020204" pitchFamily="34" charset="0"/>
                <a:cs typeface="Arial" panose="020B0604020202020204" pitchFamily="34" charset="0"/>
              </a:rPr>
            </a:br>
            <a:br>
              <a:rPr lang="en-US" sz="36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 </a:t>
            </a:r>
            <a:r>
              <a:rPr lang="en-US" sz="2800" dirty="0">
                <a:latin typeface="+mn-lt"/>
                <a:cs typeface="Arial" panose="020B0604020202020204" pitchFamily="34" charset="0"/>
              </a:rPr>
              <a:t>SRIJA MONDAL</a:t>
            </a:r>
            <a:br>
              <a:rPr lang="en-US" sz="2800" dirty="0">
                <a:latin typeface="+mn-lt"/>
                <a:cs typeface="Arial" panose="020B0604020202020204" pitchFamily="34" charset="0"/>
              </a:rPr>
            </a:br>
            <a:r>
              <a:rPr lang="en-US" sz="2800" dirty="0">
                <a:latin typeface="+mn-lt"/>
                <a:cs typeface="Arial" panose="020B0604020202020204" pitchFamily="34" charset="0"/>
              </a:rPr>
              <a:t>SATYAM MISHRA</a:t>
            </a:r>
            <a:br>
              <a:rPr lang="en-US" sz="2800" dirty="0">
                <a:latin typeface="+mn-lt"/>
                <a:cs typeface="Arial" panose="020B0604020202020204" pitchFamily="34" charset="0"/>
              </a:rPr>
            </a:br>
            <a:r>
              <a:rPr lang="en-US" sz="2800" dirty="0">
                <a:latin typeface="+mn-lt"/>
                <a:cs typeface="Arial" panose="020B0604020202020204" pitchFamily="34" charset="0"/>
              </a:rPr>
              <a:t>MOHAMMAD ISSAQH</a:t>
            </a:r>
            <a:br>
              <a:rPr lang="en-US" sz="2800" dirty="0">
                <a:latin typeface="+mn-lt"/>
                <a:cs typeface="Arial" panose="020B0604020202020204" pitchFamily="34" charset="0"/>
              </a:rPr>
            </a:br>
            <a:r>
              <a:rPr lang="en-US" sz="2800" dirty="0">
                <a:latin typeface="+mn-lt"/>
                <a:cs typeface="Arial" panose="020B0604020202020204" pitchFamily="34" charset="0"/>
              </a:rPr>
              <a:t>RAHUL DAS</a:t>
            </a:r>
            <a:br>
              <a:rPr lang="en-US" dirty="0">
                <a:latin typeface="+mn-lt"/>
              </a:rPr>
            </a:br>
            <a:br>
              <a:rPr lang="en-US" dirty="0">
                <a:latin typeface="+mn-lt"/>
              </a:rPr>
            </a:br>
            <a:br>
              <a:rPr lang="en-US" b="1" dirty="0">
                <a:latin typeface="Algerian" panose="04020705040A02060702" pitchFamily="82" charset="0"/>
              </a:rPr>
            </a:br>
            <a:br>
              <a:rPr lang="en-US" b="1" dirty="0">
                <a:latin typeface="Algerian" panose="04020705040A02060702" pitchFamily="82" charset="0"/>
              </a:rPr>
            </a:br>
            <a:br>
              <a:rPr lang="en-US" b="1" dirty="0">
                <a:latin typeface="Algerian" panose="04020705040A02060702" pitchFamily="82" charset="0"/>
              </a:rPr>
            </a:br>
            <a:endParaRPr lang="en-US" b="1" dirty="0">
              <a:latin typeface="Algerian" panose="04020705040A02060702" pitchFamily="82"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346510" y="86627"/>
            <a:ext cx="6516304" cy="6410426"/>
          </a:xfrm>
        </p:spPr>
        <p:txBody>
          <a:bodyPr/>
          <a:lstStyle/>
          <a:p>
            <a:pPr algn="ctr"/>
            <a:br>
              <a:rPr lang="en-US" sz="2400" b="1" u="sng" dirty="0">
                <a:latin typeface="Algerian" panose="04020705040A02060702" pitchFamily="82" charset="0"/>
              </a:rPr>
            </a:br>
            <a:r>
              <a:rPr lang="en-US" sz="2400" b="1" u="sng" dirty="0">
                <a:latin typeface="Algerian" panose="04020705040A02060702" pitchFamily="82" charset="0"/>
              </a:rPr>
              <a:t>PROBLEM statement</a:t>
            </a:r>
            <a:br>
              <a:rPr lang="en-US" sz="2400" dirty="0">
                <a:latin typeface="Algerian" panose="04020705040A02060702" pitchFamily="82" charset="0"/>
              </a:rPr>
            </a:br>
            <a:br>
              <a:rPr lang="en-US" sz="2400" dirty="0">
                <a:latin typeface="Algerian" panose="04020705040A02060702" pitchFamily="82" charset="0"/>
              </a:rPr>
            </a:br>
            <a:r>
              <a:rPr lang="en-US" sz="2400" dirty="0">
                <a:latin typeface="Algerian" panose="04020705040A02060702" pitchFamily="82" charset="0"/>
              </a:rPr>
              <a:t>6. Food Distribution Optimization for NGOs</a:t>
            </a:r>
            <a:br>
              <a:rPr lang="en-US" sz="2400" dirty="0">
                <a:latin typeface="Algerian" panose="04020705040A02060702" pitchFamily="82" charset="0"/>
              </a:rPr>
            </a:br>
            <a:br>
              <a:rPr lang="en-US" sz="2400" dirty="0">
                <a:latin typeface="Algerian" panose="04020705040A02060702" pitchFamily="82" charset="0"/>
              </a:rPr>
            </a:br>
            <a:r>
              <a:rPr lang="en-US" sz="2400" dirty="0">
                <a:latin typeface="Centaur" panose="02030504050205020304" pitchFamily="18" charset="0"/>
                <a:cs typeface="Arial" panose="020B0604020202020204" pitchFamily="34" charset="0"/>
              </a:rPr>
              <a:t>Spoilage-Aware Quantum-Inspired Food Distribution System Tagline</a:t>
            </a:r>
            <a:br>
              <a:rPr lang="en-US" sz="2400" dirty="0">
                <a:latin typeface="Centaur" panose="02030504050205020304" pitchFamily="18" charset="0"/>
                <a:cs typeface="Arial" panose="020B0604020202020204" pitchFamily="34" charset="0"/>
              </a:rPr>
            </a:br>
            <a:br>
              <a:rPr lang="en-US" sz="2400" dirty="0">
                <a:latin typeface="Centaur" panose="02030504050205020304" pitchFamily="18" charset="0"/>
                <a:cs typeface="Arial" panose="020B0604020202020204" pitchFamily="34" charset="0"/>
              </a:rPr>
            </a:br>
            <a:r>
              <a:rPr lang="en-US" sz="2400" dirty="0">
                <a:latin typeface="Centaur" panose="02030504050205020304" pitchFamily="18" charset="0"/>
                <a:cs typeface="Arial" panose="020B0604020202020204" pitchFamily="34" charset="0"/>
              </a:rPr>
              <a:t>Large quantities of food are wasted due to poor allocation. Relief organizations struggle with limited truck capacity. Perishable food often spoils before reaching needy people. Manual selection fails to maximize delivery impact</a:t>
            </a:r>
            <a:r>
              <a:rPr lang="en-US" sz="2400" dirty="0">
                <a:latin typeface="Arial" panose="020B0604020202020204" pitchFamily="34" charset="0"/>
                <a:cs typeface="Arial" panose="020B0604020202020204" pitchFamily="34" charset="0"/>
              </a:rPr>
              <a:t>.</a:t>
            </a: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r>
              <a:rPr lang="en-US" sz="1800" b="1" dirty="0">
                <a:latin typeface="Candara Light" panose="020E0502030303020204" pitchFamily="34" charset="0"/>
                <a:cs typeface="Arial" panose="020B0604020202020204" pitchFamily="34" charset="0"/>
              </a:rPr>
              <a:t>1year – 80 million tonnes food wasted</a:t>
            </a:r>
            <a:br>
              <a:rPr lang="en-US" sz="1800" b="1" dirty="0">
                <a:latin typeface="Candara Light" panose="020E0502030303020204" pitchFamily="34" charset="0"/>
                <a:cs typeface="Arial" panose="020B0604020202020204" pitchFamily="34" charset="0"/>
              </a:rPr>
            </a:br>
            <a:r>
              <a:rPr lang="en-US" sz="1800" b="1" dirty="0">
                <a:latin typeface="Candara Light" panose="020E0502030303020204" pitchFamily="34" charset="0"/>
                <a:cs typeface="Arial" panose="020B0604020202020204" pitchFamily="34" charset="0"/>
              </a:rPr>
              <a:t>Everyday – 190 million people stay hungry</a:t>
            </a:r>
            <a:br>
              <a:rPr lang="en-US" sz="1800" b="1" dirty="0">
                <a:latin typeface="Candara Light" panose="020E0502030303020204" pitchFamily="34" charset="0"/>
                <a:cs typeface="Arial" panose="020B0604020202020204" pitchFamily="34" charset="0"/>
              </a:rPr>
            </a:br>
            <a:r>
              <a:rPr lang="en-US" sz="1800" b="1" dirty="0">
                <a:latin typeface="Candara Light" panose="020E0502030303020204" pitchFamily="34" charset="0"/>
                <a:cs typeface="Arial" panose="020B0604020202020204" pitchFamily="34" charset="0"/>
              </a:rPr>
              <a:t>Everymonth – 195 million people stay hungry </a:t>
            </a:r>
            <a:br>
              <a:rPr lang="en-US" sz="1800" b="1" dirty="0">
                <a:latin typeface="Candara Light" panose="020E0502030303020204" pitchFamily="34" charset="0"/>
                <a:cs typeface="Arial" panose="020B0604020202020204" pitchFamily="34" charset="0"/>
              </a:rPr>
            </a:br>
            <a:endParaRPr lang="en-US" sz="1800" b="1" u="sng" dirty="0">
              <a:latin typeface="Candara Light" panose="020E0502030303020204" pitchFamily="34" charset="0"/>
              <a:cs typeface="Arial" panose="020B0604020202020204" pitchFamily="34" charset="0"/>
            </a:endParaRPr>
          </a:p>
        </p:txBody>
      </p:sp>
      <p:pic>
        <p:nvPicPr>
          <p:cNvPr id="6" name="Picture Placeholder 5">
            <a:extLst>
              <a:ext uri="{FF2B5EF4-FFF2-40B4-BE49-F238E27FC236}">
                <a16:creationId xmlns:a16="http://schemas.microsoft.com/office/drawing/2014/main" id="{F3B58D54-14A1-582B-74CC-1A53DE0231E9}"/>
              </a:ext>
            </a:extLst>
          </p:cNvPr>
          <p:cNvPicPr>
            <a:picLocks noGrp="1" noChangeAspect="1"/>
          </p:cNvPicPr>
          <p:nvPr>
            <p:ph type="pic" idx="1"/>
          </p:nvPr>
        </p:nvPicPr>
        <p:blipFill>
          <a:blip r:embed="rId3">
            <a:extLst>
              <a:ext uri="{837473B0-CC2E-450A-ABE3-18F120FF3D39}">
                <a1611:picAttrSrcUrl xmlns:a1611="http://schemas.microsoft.com/office/drawing/2016/11/main" r:id="rId4"/>
              </a:ext>
            </a:extLst>
          </a:blip>
          <a:srcRect l="25713" r="25713"/>
          <a:stretch>
            <a:fillRect/>
          </a:stretch>
        </p:blipFill>
        <p:spPr>
          <a:xfrm>
            <a:off x="7151571" y="0"/>
            <a:ext cx="5146307" cy="6770859"/>
          </a:xfrm>
        </p:spPr>
      </p:pic>
      <p:sp>
        <p:nvSpPr>
          <p:cNvPr id="7" name="TextBox 6">
            <a:extLst>
              <a:ext uri="{FF2B5EF4-FFF2-40B4-BE49-F238E27FC236}">
                <a16:creationId xmlns:a16="http://schemas.microsoft.com/office/drawing/2014/main" id="{6EC7CBBC-708D-249C-3C03-1ED19AEF88B8}"/>
              </a:ext>
            </a:extLst>
          </p:cNvPr>
          <p:cNvSpPr txBox="1"/>
          <p:nvPr/>
        </p:nvSpPr>
        <p:spPr>
          <a:xfrm>
            <a:off x="6862813" y="6770859"/>
            <a:ext cx="5435065" cy="230832"/>
          </a:xfrm>
          <a:prstGeom prst="rect">
            <a:avLst/>
          </a:prstGeom>
          <a:noFill/>
        </p:spPr>
        <p:txBody>
          <a:bodyPr wrap="square" rtlCol="0">
            <a:spAutoFit/>
          </a:bodyPr>
          <a:lstStyle/>
          <a:p>
            <a:r>
              <a:rPr lang="en-IN" sz="900">
                <a:hlinkClick r:id="rId4" tooltip="https://groundup.org.za/article/service-dining-rooms/"/>
              </a:rPr>
              <a:t>This Photo</a:t>
            </a:r>
            <a:r>
              <a:rPr lang="en-IN" sz="900"/>
              <a:t> by Unknown Author is licensed under </a:t>
            </a:r>
            <a:r>
              <a:rPr lang="en-IN" sz="900">
                <a:hlinkClick r:id="rId5" tooltip="https://creativecommons.org/licenses/by-nd/3.0/"/>
              </a:rPr>
              <a:t>CC BY-ND</a:t>
            </a:r>
            <a:endParaRPr lang="en-IN" sz="900"/>
          </a:p>
        </p:txBody>
      </p:sp>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1549666" y="2204184"/>
            <a:ext cx="9577137" cy="3551723"/>
          </a:xfrm>
        </p:spPr>
        <p:txBody>
          <a:bodyPr/>
          <a:lstStyle/>
          <a:p>
            <a:r>
              <a:rPr lang="en-US" dirty="0"/>
              <a:t>Manual Planning: Prone to human error, slow, and doesn’t scale with large datasets</a:t>
            </a:r>
          </a:p>
          <a:p>
            <a:r>
              <a:rPr lang="en-US" dirty="0"/>
              <a:t>As food items increase, possible allocation combinations grow exponentially</a:t>
            </a:r>
          </a:p>
          <a:p>
            <a:r>
              <a:rPr lang="en-US" dirty="0"/>
              <a:t>Manual entry means wrong expiry dates, quantities, or dietary restrictions → bad allocations.</a:t>
            </a:r>
          </a:p>
          <a:p>
            <a:r>
              <a:rPr lang="en-US" dirty="0"/>
              <a:t>Traditional systems can’t adapt to live inventory changes, sudden donations, or last-minute demand spikes</a:t>
            </a:r>
          </a:p>
          <a:p>
            <a:r>
              <a:rPr lang="en-US" dirty="0"/>
              <a:t>Food safety laws need batch tracking. Manual systems can’t prove where spoiled food came from..</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3</a:t>
            </a:fld>
            <a:endParaRPr lang="en-US" dirty="0"/>
          </a:p>
        </p:txBody>
      </p:sp>
      <p:sp>
        <p:nvSpPr>
          <p:cNvPr id="4" name="Title 3">
            <a:extLst>
              <a:ext uri="{FF2B5EF4-FFF2-40B4-BE49-F238E27FC236}">
                <a16:creationId xmlns:a16="http://schemas.microsoft.com/office/drawing/2014/main" id="{67C0A9D9-7FD4-2D0C-8041-25F5AC6C23B0}"/>
              </a:ext>
            </a:extLst>
          </p:cNvPr>
          <p:cNvSpPr>
            <a:spLocks noGrp="1"/>
          </p:cNvSpPr>
          <p:nvPr>
            <p:ph type="title"/>
          </p:nvPr>
        </p:nvSpPr>
        <p:spPr>
          <a:xfrm>
            <a:off x="2887579" y="596766"/>
            <a:ext cx="7534656" cy="914400"/>
          </a:xfrm>
        </p:spPr>
        <p:txBody>
          <a:bodyPr/>
          <a:lstStyle/>
          <a:p>
            <a:r>
              <a:rPr lang="en-IN" dirty="0"/>
              <a:t>Why Existing Systems Fail</a:t>
            </a:r>
          </a:p>
        </p:txBody>
      </p:sp>
    </p:spTree>
    <p:extLst>
      <p:ext uri="{BB962C8B-B14F-4D97-AF65-F5344CB8AC3E}">
        <p14:creationId xmlns:p14="http://schemas.microsoft.com/office/powerpoint/2010/main" val="196691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5240064" y="192505"/>
            <a:ext cx="5449824" cy="924025"/>
          </a:xfrm>
        </p:spPr>
        <p:txBody>
          <a:bodyPr anchor="b"/>
          <a:lstStyle/>
          <a:p>
            <a:r>
              <a:rPr lang="en-US" u="sng" dirty="0">
                <a:latin typeface="Algerian" panose="04020705040A02060702" pitchFamily="82" charset="0"/>
              </a:rPr>
              <a:t>SOLUTION</a:t>
            </a:r>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5794408" y="1309036"/>
            <a:ext cx="5611530" cy="5207268"/>
          </a:xfrm>
        </p:spPr>
        <p:txBody>
          <a:bodyPr/>
          <a:lstStyle/>
          <a:p>
            <a:r>
              <a:rPr lang="en-US" sz="2800" b="1" dirty="0">
                <a:latin typeface="Arial" panose="020B0604020202020204" pitchFamily="34" charset="0"/>
                <a:cs typeface="Arial" panose="020B0604020202020204" pitchFamily="34" charset="0"/>
              </a:rPr>
              <a:t>We designed a:</a:t>
            </a:r>
          </a:p>
          <a:p>
            <a:endParaRPr lang="en-US" dirty="0">
              <a:latin typeface="Arial" panose="020B0604020202020204" pitchFamily="34" charset="0"/>
              <a:cs typeface="Arial" panose="020B0604020202020204" pitchFamily="34" charset="0"/>
            </a:endParaRPr>
          </a:p>
          <a:p>
            <a:pPr algn="ctr"/>
            <a:r>
              <a:rPr lang="en-US" sz="2800" u="sng" dirty="0">
                <a:latin typeface="Bahnschrift SemiBold Condensed" panose="020B0502040204020203" pitchFamily="34" charset="0"/>
              </a:rPr>
              <a:t>QUANTUM FOOD SPOILAGE OPTIMIZER</a:t>
            </a:r>
            <a:br>
              <a:rPr lang="en-US" sz="2800" u="sng" dirty="0">
                <a:latin typeface="Bahnschrift SemiBold Condensed" panose="020B0502040204020203" pitchFamily="34" charset="0"/>
              </a:rPr>
            </a:br>
            <a:endParaRPr lang="en-US" sz="1800" dirty="0">
              <a:latin typeface="Bookman Old Style" panose="02050604050505020204" pitchFamily="18" charset="0"/>
              <a:cs typeface="Arial" panose="020B0604020202020204" pitchFamily="34" charset="0"/>
            </a:endParaRPr>
          </a:p>
          <a:p>
            <a:pPr algn="ctr"/>
            <a:r>
              <a:rPr lang="en-US" sz="1800" dirty="0">
                <a:latin typeface="Bookman Old Style" panose="02050604050505020204" pitchFamily="18" charset="0"/>
                <a:cs typeface="Arial" panose="020B0604020202020204" pitchFamily="34" charset="0"/>
              </a:rPr>
              <a:t>Food Data</a:t>
            </a:r>
          </a:p>
          <a:p>
            <a:pPr algn="ctr"/>
            <a:r>
              <a:rPr lang="en-US" sz="1800" dirty="0">
                <a:latin typeface="Bookman Old Style" panose="02050604050505020204" pitchFamily="18" charset="0"/>
                <a:cs typeface="Arial" panose="020B0604020202020204" pitchFamily="34" charset="0"/>
              </a:rPr>
              <a:t>↓</a:t>
            </a:r>
          </a:p>
          <a:p>
            <a:pPr algn="ctr"/>
            <a:r>
              <a:rPr lang="en-US" sz="1800" dirty="0">
                <a:latin typeface="Bookman Old Style" panose="02050604050505020204" pitchFamily="18" charset="0"/>
                <a:cs typeface="Arial" panose="020B0604020202020204" pitchFamily="34" charset="0"/>
              </a:rPr>
              <a:t>Priority Scoring</a:t>
            </a:r>
          </a:p>
          <a:p>
            <a:pPr algn="ctr"/>
            <a:r>
              <a:rPr lang="en-US" sz="1800" dirty="0">
                <a:latin typeface="Bookman Old Style" panose="02050604050505020204" pitchFamily="18" charset="0"/>
                <a:cs typeface="Arial" panose="020B0604020202020204" pitchFamily="34" charset="0"/>
              </a:rPr>
              <a:t>↓</a:t>
            </a:r>
          </a:p>
          <a:p>
            <a:pPr algn="ctr"/>
            <a:r>
              <a:rPr lang="en-US" sz="1800" dirty="0" err="1">
                <a:latin typeface="Bookman Old Style" panose="02050604050505020204" pitchFamily="18" charset="0"/>
                <a:cs typeface="Arial" panose="020B0604020202020204" pitchFamily="34" charset="0"/>
              </a:rPr>
              <a:t>Qfs</a:t>
            </a:r>
            <a:r>
              <a:rPr lang="en-US" sz="1800" dirty="0">
                <a:latin typeface="Bookman Old Style" panose="02050604050505020204" pitchFamily="18" charset="0"/>
                <a:cs typeface="Arial" panose="020B0604020202020204" pitchFamily="34" charset="0"/>
              </a:rPr>
              <a:t> Optimization Model</a:t>
            </a:r>
          </a:p>
          <a:p>
            <a:pPr algn="ctr"/>
            <a:r>
              <a:rPr lang="en-US" sz="1800" dirty="0">
                <a:latin typeface="Bookman Old Style" panose="02050604050505020204" pitchFamily="18" charset="0"/>
                <a:cs typeface="Arial" panose="020B0604020202020204" pitchFamily="34" charset="0"/>
              </a:rPr>
              <a:t>↓ </a:t>
            </a:r>
          </a:p>
          <a:p>
            <a:pPr algn="ctr"/>
            <a:r>
              <a:rPr lang="en-US" sz="1800" dirty="0">
                <a:latin typeface="Bookman Old Style" panose="02050604050505020204" pitchFamily="18" charset="0"/>
                <a:cs typeface="Arial" panose="020B0604020202020204" pitchFamily="34" charset="0"/>
              </a:rPr>
              <a:t>Best Food Allocation</a:t>
            </a:r>
          </a:p>
        </p:txBody>
      </p:sp>
      <p:pic>
        <p:nvPicPr>
          <p:cNvPr id="33" name="Picture Placeholder 32">
            <a:extLst>
              <a:ext uri="{FF2B5EF4-FFF2-40B4-BE49-F238E27FC236}">
                <a16:creationId xmlns:a16="http://schemas.microsoft.com/office/drawing/2014/main" id="{0AF45A7C-ABA2-3CBC-8A09-E351C221E005}"/>
              </a:ext>
            </a:extLst>
          </p:cNvPr>
          <p:cNvPicPr>
            <a:picLocks noGrp="1" noChangeAspect="1"/>
          </p:cNvPicPr>
          <p:nvPr>
            <p:ph type="pic" sz="quarter" idx="11"/>
          </p:nvPr>
        </p:nvPicPr>
        <p:blipFill>
          <a:blip r:embed="rId3"/>
          <a:srcRect l="26220" r="26220"/>
          <a:stretch>
            <a:fillRect/>
          </a:stretch>
        </p:blipFill>
        <p:spPr>
          <a:xfrm>
            <a:off x="-1" y="0"/>
            <a:ext cx="5313146" cy="6858000"/>
          </a:xfrm>
        </p:spPr>
      </p:pic>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519764"/>
            <a:ext cx="10360152" cy="1463040"/>
          </a:xfrm>
        </p:spPr>
        <p:txBody>
          <a:bodyPr anchor="b"/>
          <a:lstStyle/>
          <a:p>
            <a:r>
              <a:rPr lang="en-US" sz="3600" dirty="0"/>
              <a:t>Quantum-Inspired Optimization QUBO-Based Optimization Engine</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1857676" y="2261937"/>
            <a:ext cx="8643486" cy="4208713"/>
          </a:xfrm>
        </p:spPr>
        <p:txBody>
          <a:bodyPr>
            <a:normAutofit/>
          </a:bodyPr>
          <a:lstStyle/>
          <a:p>
            <a:r>
              <a:rPr lang="en-US" cap="none" dirty="0">
                <a:latin typeface="Arial" panose="020B0604020202020204" pitchFamily="34" charset="0"/>
                <a:cs typeface="Arial" panose="020B0604020202020204" pitchFamily="34" charset="0"/>
              </a:rPr>
              <a:t>QUBO Mathematically Evaluates Multiple Food Combinations And Helps Select The Most Optimal Allocation</a:t>
            </a:r>
          </a:p>
          <a:p>
            <a:endParaRPr lang="en-US" sz="20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QUBO Formulation</a:t>
            </a:r>
          </a:p>
          <a:p>
            <a:r>
              <a:rPr lang="en-US" b="1" dirty="0">
                <a:latin typeface="Arial" panose="020B0604020202020204" pitchFamily="34" charset="0"/>
                <a:cs typeface="Arial" panose="020B0604020202020204" pitchFamily="34" charset="0"/>
              </a:rPr>
              <a:t>Q(x)=I∑​ai​xi+ i,j∑​bij​xi​xj​</a:t>
            </a:r>
          </a:p>
          <a:p>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Binary Decision Variables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x​=1 → Include food item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in allocation</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xi​=0 → Exclude food item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from allocation</a:t>
            </a:r>
          </a:p>
          <a:p>
            <a:endParaRPr lang="en-US"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QUBO =</a:t>
            </a:r>
            <a:r>
              <a:rPr lang="en-US" sz="1800" cap="none" dirty="0">
                <a:latin typeface="Arial" panose="020B0604020202020204" pitchFamily="34" charset="0"/>
                <a:cs typeface="Arial" panose="020B0604020202020204" pitchFamily="34" charset="0"/>
              </a:rPr>
              <a:t>Quadratic Unconstrained Binary Optimization</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6717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375385" y="587141"/>
            <a:ext cx="7534656" cy="914400"/>
          </a:xfrm>
        </p:spPr>
        <p:txBody>
          <a:bodyPr/>
          <a:lstStyle/>
          <a:p>
            <a:r>
              <a:rPr lang="en-US" dirty="0"/>
              <a:t>Real-World Impact</a:t>
            </a:r>
            <a:br>
              <a:rPr lang="en-US" dirty="0"/>
            </a:br>
            <a:r>
              <a:rPr lang="en-US" dirty="0" err="1"/>
              <a:t>Impact</a:t>
            </a:r>
            <a:r>
              <a:rPr lang="en-US" dirty="0"/>
              <a:t> &amp; Applications</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673767" y="1820858"/>
            <a:ext cx="5650992" cy="4717824"/>
          </a:xfrm>
        </p:spPr>
        <p:txBody>
          <a:bodyPr>
            <a:normAutofit lnSpcReduction="10000"/>
          </a:bodyPr>
          <a:lstStyle/>
          <a:p>
            <a:r>
              <a:rPr lang="en-US" b="1" u="sng" dirty="0"/>
              <a:t>APPLICATIONS</a:t>
            </a:r>
          </a:p>
          <a:p>
            <a:r>
              <a:rPr lang="en-US" sz="2200" dirty="0"/>
              <a:t>NGO food distribution</a:t>
            </a:r>
          </a:p>
          <a:p>
            <a:r>
              <a:rPr lang="en-US" sz="2200" dirty="0"/>
              <a:t>Disaster relief logistics</a:t>
            </a:r>
          </a:p>
          <a:p>
            <a:r>
              <a:rPr lang="en-US" sz="2200" dirty="0"/>
              <a:t>Flood rescue operations</a:t>
            </a:r>
          </a:p>
          <a:p>
            <a:r>
              <a:rPr lang="en-US" sz="2200" dirty="0"/>
              <a:t>Smart ration allocation</a:t>
            </a:r>
          </a:p>
          <a:p>
            <a:r>
              <a:rPr lang="en-US" sz="2200" dirty="0"/>
              <a:t>Food bank optimization</a:t>
            </a:r>
          </a:p>
          <a:p>
            <a:r>
              <a:rPr lang="en-US" b="1" u="sng" dirty="0"/>
              <a:t>BENIFITS</a:t>
            </a:r>
          </a:p>
          <a:p>
            <a:r>
              <a:rPr lang="en-US" dirty="0"/>
              <a:t>✅ Reduce food spoilage</a:t>
            </a:r>
          </a:p>
          <a:p>
            <a:r>
              <a:rPr lang="en-US" dirty="0"/>
              <a:t>✅ Improve truck utilization</a:t>
            </a:r>
          </a:p>
          <a:p>
            <a:r>
              <a:rPr lang="en-US" dirty="0"/>
              <a:t>✅ Deliver higher-priority food</a:t>
            </a:r>
          </a:p>
          <a:p>
            <a:r>
              <a:rPr lang="en-US" dirty="0"/>
              <a:t>✅ Faster allocation decisions</a:t>
            </a:r>
          </a:p>
          <a:p>
            <a:r>
              <a:rPr lang="en-US" dirty="0"/>
              <a:t>✅ Better humanitarian response</a:t>
            </a:r>
          </a:p>
        </p:txBody>
      </p:sp>
      <p:pic>
        <p:nvPicPr>
          <p:cNvPr id="20" name="Picture Placeholder 19">
            <a:extLst>
              <a:ext uri="{FF2B5EF4-FFF2-40B4-BE49-F238E27FC236}">
                <a16:creationId xmlns:a16="http://schemas.microsoft.com/office/drawing/2014/main" id="{52939F62-8993-38D1-DD2F-6B4617CF6FE9}"/>
              </a:ext>
            </a:extLst>
          </p:cNvPr>
          <p:cNvPicPr>
            <a:picLocks noGrp="1" noChangeAspect="1"/>
          </p:cNvPicPr>
          <p:nvPr>
            <p:ph type="pic" sz="quarter" idx="10"/>
          </p:nvPr>
        </p:nvPicPr>
        <p:blipFill>
          <a:blip r:embed="rId3"/>
          <a:srcRect t="2650" b="2650"/>
          <a:stretch>
            <a:fillRect/>
          </a:stretch>
        </p:blipFill>
        <p:spPr>
          <a:xfrm>
            <a:off x="6872439" y="-20758"/>
            <a:ext cx="5340198" cy="6878757"/>
          </a:xfrm>
        </p:spPr>
      </p:pic>
    </p:spTree>
    <p:extLst>
      <p:ext uri="{BB962C8B-B14F-4D97-AF65-F5344CB8AC3E}">
        <p14:creationId xmlns:p14="http://schemas.microsoft.com/office/powerpoint/2010/main" val="859909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750771" y="327259"/>
            <a:ext cx="10360152" cy="914400"/>
          </a:xfrm>
        </p:spPr>
        <p:txBody>
          <a:bodyPr/>
          <a:lstStyle/>
          <a:p>
            <a:pPr algn="ctr"/>
            <a:r>
              <a:rPr lang="en-US" sz="3600" b="1" u="sng" dirty="0">
                <a:effectLst>
                  <a:outerShdw blurRad="38100" dist="38100" dir="2700000" algn="tl">
                    <a:srgbClr val="000000">
                      <a:alpha val="43137"/>
                    </a:srgbClr>
                  </a:outerShdw>
                </a:effectLst>
                <a:latin typeface="Algerian" panose="04020705040A02060702" pitchFamily="82" charset="0"/>
              </a:rPr>
              <a:t>Future Scope</a:t>
            </a:r>
          </a:p>
        </p:txBody>
      </p:sp>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1607418" y="1750354"/>
            <a:ext cx="8030357" cy="3818342"/>
          </a:xfrm>
        </p:spPr>
        <p:txBody>
          <a:bodyPr/>
          <a:lstStyle/>
          <a:p>
            <a:r>
              <a:rPr lang="en-US" sz="2800" b="1" dirty="0"/>
              <a:t>   </a:t>
            </a:r>
            <a:r>
              <a:rPr lang="en-US" sz="2800" b="1" dirty="0">
                <a:latin typeface="Algerian" panose="04020705040A02060702" pitchFamily="82" charset="0"/>
              </a:rPr>
              <a:t>Future Enhancements</a:t>
            </a:r>
          </a:p>
          <a:p>
            <a:endParaRPr lang="en-US" sz="2800" b="1" dirty="0"/>
          </a:p>
          <a:p>
            <a:pPr marL="457200" indent="-457200">
              <a:buFont typeface="+mj-lt"/>
              <a:buAutoNum type="arabicPeriod"/>
            </a:pPr>
            <a:r>
              <a:rPr lang="en-US" dirty="0"/>
              <a:t>AI-based demand prediction</a:t>
            </a:r>
          </a:p>
          <a:p>
            <a:pPr marL="457200" indent="-457200">
              <a:buFont typeface="+mj-lt"/>
              <a:buAutoNum type="arabicPeriod"/>
            </a:pPr>
            <a:r>
              <a:rPr lang="en-US" dirty="0"/>
              <a:t>Multi-truck optimization</a:t>
            </a:r>
          </a:p>
          <a:p>
            <a:pPr marL="457200" indent="-457200">
              <a:buFont typeface="+mj-lt"/>
              <a:buAutoNum type="arabicPeriod"/>
            </a:pPr>
            <a:r>
              <a:rPr lang="en-US" dirty="0"/>
              <a:t>Real-time traffic integration</a:t>
            </a:r>
          </a:p>
          <a:p>
            <a:pPr marL="457200" indent="-457200">
              <a:buFont typeface="+mj-lt"/>
              <a:buAutoNum type="arabicPeriod"/>
            </a:pPr>
            <a:r>
              <a:rPr lang="en-US" dirty="0"/>
              <a:t>IoT inventory monitoring</a:t>
            </a:r>
          </a:p>
          <a:p>
            <a:pPr marL="457200" indent="-457200">
              <a:buFont typeface="+mj-lt"/>
              <a:buAutoNum type="arabicPeriod"/>
            </a:pPr>
            <a:r>
              <a:rPr lang="en-US" dirty="0"/>
              <a:t>Cloud-based relief coordination</a:t>
            </a:r>
          </a:p>
          <a:p>
            <a:pPr marL="457200" indent="-457200">
              <a:buFont typeface="+mj-lt"/>
              <a:buAutoNum type="arabicPeriod"/>
            </a:pPr>
            <a:r>
              <a:rPr lang="en-US" dirty="0"/>
              <a:t>Integration with real quantum hardware Vision</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374834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a:xfrm>
            <a:off x="770021" y="385011"/>
            <a:ext cx="10360152" cy="914400"/>
          </a:xfrm>
        </p:spPr>
        <p:txBody>
          <a:bodyPr/>
          <a:lstStyle/>
          <a:p>
            <a:pPr algn="ctr"/>
            <a:r>
              <a:rPr lang="en-US" dirty="0"/>
              <a:t>    </a:t>
            </a:r>
            <a:r>
              <a:rPr lang="en-US" sz="4000" u="sng" dirty="0"/>
              <a:t>QFSO</a:t>
            </a:r>
          </a:p>
        </p:txBody>
      </p:sp>
      <p:sp>
        <p:nvSpPr>
          <p:cNvPr id="3" name="Content Placeholder 2">
            <a:extLst>
              <a:ext uri="{FF2B5EF4-FFF2-40B4-BE49-F238E27FC236}">
                <a16:creationId xmlns:a16="http://schemas.microsoft.com/office/drawing/2014/main" id="{DA4B0F3C-5228-C9FB-1212-1D4894C80B46}"/>
              </a:ext>
            </a:extLst>
          </p:cNvPr>
          <p:cNvSpPr>
            <a:spLocks noGrp="1"/>
          </p:cNvSpPr>
          <p:nvPr>
            <p:ph sz="quarter" idx="13"/>
          </p:nvPr>
        </p:nvSpPr>
        <p:spPr>
          <a:xfrm>
            <a:off x="1905802" y="1842006"/>
            <a:ext cx="8123722" cy="4037798"/>
          </a:xfrm>
        </p:spPr>
        <p:txBody>
          <a:bodyPr>
            <a:normAutofit/>
          </a:bodyPr>
          <a:lstStyle/>
          <a:p>
            <a:pPr marL="0" indent="0" algn="ctr">
              <a:buNone/>
            </a:pPr>
            <a:r>
              <a:rPr lang="en-US" sz="2400" cap="none" dirty="0"/>
              <a:t>“Feeding Smarter With Quantum-Inspired Optimization</a:t>
            </a:r>
            <a:r>
              <a:rPr lang="en-US" sz="2400" dirty="0"/>
              <a:t>”</a:t>
            </a:r>
          </a:p>
          <a:p>
            <a:pPr marL="0" indent="0">
              <a:buNone/>
            </a:pPr>
            <a:endParaRPr lang="en-US" sz="2400" dirty="0"/>
          </a:p>
          <a:p>
            <a:pPr marL="0" indent="0">
              <a:buNone/>
            </a:pPr>
            <a:r>
              <a:rPr lang="en-US" sz="2400" b="1" u="sng" dirty="0">
                <a:latin typeface="Arial" panose="020B0604020202020204" pitchFamily="34" charset="0"/>
                <a:cs typeface="Arial" panose="020B0604020202020204" pitchFamily="34" charset="0"/>
              </a:rPr>
              <a:t>Final Statement:-</a:t>
            </a:r>
          </a:p>
          <a:p>
            <a:pPr marL="0" indent="0">
              <a:buNone/>
            </a:pPr>
            <a:endParaRPr lang="en-US" dirty="0"/>
          </a:p>
          <a:p>
            <a:pPr marL="0" indent="0" algn="ctr">
              <a:buNone/>
            </a:pPr>
            <a:r>
              <a:rPr lang="en-US" sz="2400" cap="none" dirty="0"/>
              <a:t>“we transformed food distribution into a spoilage-aware combinatorial optimization problem and solved it using </a:t>
            </a:r>
            <a:r>
              <a:rPr lang="en-US" sz="2400" cap="none" dirty="0" err="1"/>
              <a:t>qubo</a:t>
            </a:r>
            <a:r>
              <a:rPr lang="en-US" sz="2400" cap="none" dirty="0"/>
              <a:t>-based simulated annealing</a:t>
            </a:r>
            <a:r>
              <a:rPr lang="en-US" sz="2400" dirty="0"/>
              <a:t>”.</a:t>
            </a: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4132147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r>
              <a:rPr lang="en-US" sz="3600" b="1" u="sng" dirty="0"/>
              <a:t>Code krafters</a:t>
            </a:r>
          </a:p>
          <a:p>
            <a:pPr marL="342900" indent="-342900">
              <a:buFontTx/>
              <a:buChar char="-"/>
            </a:pPr>
            <a:r>
              <a:rPr lang="en-US" dirty="0"/>
              <a:t>Srija mondal</a:t>
            </a:r>
          </a:p>
          <a:p>
            <a:pPr marL="342900" indent="-342900">
              <a:buFontTx/>
              <a:buChar char="-"/>
            </a:pPr>
            <a:r>
              <a:rPr lang="en-US" dirty="0"/>
              <a:t>Satyam Mishra</a:t>
            </a:r>
          </a:p>
          <a:p>
            <a:pPr marL="342900" indent="-342900">
              <a:buFontTx/>
              <a:buChar char="-"/>
            </a:pPr>
            <a:r>
              <a:rPr lang="en-US" dirty="0"/>
              <a:t>Mohammad issaqh</a:t>
            </a:r>
          </a:p>
          <a:p>
            <a:pPr marL="342900" indent="-342900">
              <a:buFontTx/>
              <a:buChar char="-"/>
            </a:pPr>
            <a:r>
              <a:rPr lang="en-US" dirty="0"/>
              <a:t>Rahul das</a:t>
            </a:r>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{D7B0079F-C3B1-40C1-AE22-9F17A3865739}TF1ed9553b-00c4-4092-846a-c8f7f2908f3beecd942f_win32-8e33096c3cfc</Template>
  <TotalTime>387</TotalTime>
  <Words>424</Words>
  <Application>Microsoft Office PowerPoint</Application>
  <PresentationFormat>Widescreen</PresentationFormat>
  <Paragraphs>77</Paragraphs>
  <Slides>9</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Algerian</vt:lpstr>
      <vt:lpstr>Arial</vt:lpstr>
      <vt:lpstr>Bahnschrift SemiBold Condensed</vt:lpstr>
      <vt:lpstr>Bookman Old Style</vt:lpstr>
      <vt:lpstr>Calibri</vt:lpstr>
      <vt:lpstr>Candara Light</vt:lpstr>
      <vt:lpstr>Centaur</vt:lpstr>
      <vt:lpstr>Courier New</vt:lpstr>
      <vt:lpstr>Gill Sans Nova Light</vt:lpstr>
      <vt:lpstr>Sagona Book</vt:lpstr>
      <vt:lpstr>Custom</vt:lpstr>
      <vt:lpstr>QUANTUM  HACKS  TEAM NAME:-CODE KRAFTERS  Domain: Food Systems   SRIJA MONDAL SATYAM MISHRA MOHAMMAD ISSAQH RAHUL DAS     </vt:lpstr>
      <vt:lpstr> PROBLEM statement  6. Food Distribution Optimization for NGOs  Spoilage-Aware Quantum-Inspired Food Distribution System Tagline  Large quantities of food are wasted due to poor allocation. Relief organizations struggle with limited truck capacity. Perishable food often spoils before reaching needy people. Manual selection fails to maximize delivery impact.  1year – 80 million tonnes food wasted Everyday – 190 million people stay hungry Everymonth – 195 million people stay hungry  </vt:lpstr>
      <vt:lpstr>Why Existing Systems Fail</vt:lpstr>
      <vt:lpstr>SOLUTION</vt:lpstr>
      <vt:lpstr>Quantum-Inspired Optimization QUBO-Based Optimization Engine</vt:lpstr>
      <vt:lpstr>Real-World Impact Impact &amp; Applications</vt:lpstr>
      <vt:lpstr>Future Scope</vt:lpstr>
      <vt:lpstr>    QFSO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srija.mondal.j2006@gmail.com</dc:creator>
  <cp:lastModifiedBy>srija.mondal.j2006@gmail.com</cp:lastModifiedBy>
  <cp:revision>10</cp:revision>
  <dcterms:created xsi:type="dcterms:W3CDTF">2026-05-23T05:33:49Z</dcterms:created>
  <dcterms:modified xsi:type="dcterms:W3CDTF">2026-05-23T12:28:49Z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